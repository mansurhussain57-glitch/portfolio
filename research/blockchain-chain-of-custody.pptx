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1744" r:id="rId2"/>
    <p:sldId id="274" r:id="rId3"/>
    <p:sldId id="275" r:id="rId4"/>
    <p:sldId id="277" r:id="rId5"/>
    <p:sldId id="276" r:id="rId6"/>
    <p:sldId id="278" r:id="rId7"/>
    <p:sldId id="1746" r:id="rId8"/>
    <p:sldId id="1745" r:id="rId9"/>
    <p:sldId id="279" r:id="rId10"/>
    <p:sldId id="266" r:id="rId11"/>
    <p:sldId id="174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75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26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26 April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26 April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26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26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26 April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17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7" Type="http://schemas.openxmlformats.org/officeDocument/2006/relationships/hyperlink" Target="https://ijrpr.com/uploads/V6ISSUE5/IJRPR45959.pdf" TargetMode="External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doi.org/10.1109/access.2025.3560191" TargetMode="External" /><Relationship Id="rId5" Type="http://schemas.openxmlformats.org/officeDocument/2006/relationships/hyperlink" Target="https://rcademy.com/blockchain-based-evidence-chain-of-custody/" TargetMode="External" /><Relationship Id="rId4" Type="http://schemas.openxmlformats.org/officeDocument/2006/relationships/hyperlink" Target="https://uvadoc.uva.es/bitstream/handle/10324/75760/_blockchain_2025_Chain_of_custody_under_iso.pdf" TargetMode="Externa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03092"/>
            <a:ext cx="5867400" cy="838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2400" y="1219200"/>
            <a:ext cx="117348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>
              <a:latin typeface="Centaur" panose="02030504050205020304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>
                <a:solidFill>
                  <a:srgbClr val="00B0F0"/>
                </a:solidFill>
                <a:latin typeface="Book Antiqua" panose="02040602050305030304" pitchFamily="18" charset="0"/>
                <a:cs typeface="Times New Roman" pitchFamily="18" charset="0"/>
              </a:rPr>
              <a:t>Department of Forensic Science, School of Sciences</a:t>
            </a:r>
          </a:p>
          <a:p>
            <a:pPr algn="ctr"/>
            <a:endParaRPr lang="en-US" sz="2800" b="1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Times New Roman" pitchFamily="18" charset="0"/>
              </a:rPr>
              <a:t>Paper Presentation</a:t>
            </a:r>
          </a:p>
          <a:p>
            <a:pPr algn="ctr"/>
            <a:endParaRPr lang="en-US" sz="14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400" dirty="0"/>
              <a:t>Blockchain-Enabled Chain of Custody Model for Tamper-Proof Digital Evidence Management </a:t>
            </a:r>
            <a:endParaRPr lang="en-US" sz="2400" b="1" dirty="0"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Book Antiqua" panose="02040602050305030304" pitchFamily="18" charset="0"/>
                <a:cs typeface="Times New Roman" pitchFamily="18" charset="0"/>
              </a:rPr>
              <a:t>Presented by</a:t>
            </a:r>
          </a:p>
          <a:p>
            <a:pPr algn="ctr"/>
            <a:r>
              <a:rPr lang="en-IN" dirty="0"/>
              <a:t>Bonagiri Jayaraju1, Yarraguntla Paul Praful2, Chintanippu Sai Pavani3, Kemisetti Bhima Sai Sundar4, Mansur Hussain Syed5</a:t>
            </a:r>
          </a:p>
          <a:p>
            <a:pPr algn="ctr"/>
            <a:r>
              <a:rPr lang="en-IN" dirty="0"/>
              <a:t> ¹Department of Forensic Science, </a:t>
            </a:r>
            <a:r>
              <a:rPr lang="en-IN" dirty="0" err="1"/>
              <a:t>Probelab</a:t>
            </a:r>
            <a:r>
              <a:rPr lang="en-IN" dirty="0"/>
              <a:t> Forensic, Hyderabad, Telangana – 500007, India. </a:t>
            </a:r>
          </a:p>
          <a:p>
            <a:pPr algn="ctr"/>
            <a:r>
              <a:rPr lang="en-IN" dirty="0"/>
              <a:t>²Department of Forensic Science, Aditya university, </a:t>
            </a:r>
            <a:r>
              <a:rPr lang="en-IN" dirty="0" err="1"/>
              <a:t>Surampalem</a:t>
            </a:r>
            <a:r>
              <a:rPr lang="en-IN" dirty="0"/>
              <a:t>, Andhra Pradesh - 533437, India. </a:t>
            </a:r>
          </a:p>
          <a:p>
            <a:pPr algn="ctr"/>
            <a:r>
              <a:rPr lang="en-IN" dirty="0"/>
              <a:t>3Department of Forensic Science, Aditya University, </a:t>
            </a:r>
            <a:r>
              <a:rPr lang="en-IN" dirty="0" err="1"/>
              <a:t>Surampalem</a:t>
            </a:r>
            <a:r>
              <a:rPr lang="en-IN" dirty="0"/>
              <a:t>, Andhra Pradesh – 533437, India.</a:t>
            </a:r>
          </a:p>
          <a:p>
            <a:pPr algn="ctr"/>
            <a:r>
              <a:rPr lang="en-IN" dirty="0"/>
              <a:t> 4Department of Forensic Science, Aditya University, </a:t>
            </a:r>
            <a:r>
              <a:rPr lang="en-IN" dirty="0" err="1"/>
              <a:t>Surampalem</a:t>
            </a:r>
            <a:r>
              <a:rPr lang="en-IN" dirty="0"/>
              <a:t>, Andhra Pradesh – 533437, India. </a:t>
            </a:r>
          </a:p>
          <a:p>
            <a:pPr algn="ctr"/>
            <a:r>
              <a:rPr lang="en-IN" dirty="0"/>
              <a:t>5Department of Forensic Science, Aditya University, </a:t>
            </a:r>
            <a:r>
              <a:rPr lang="en-IN" dirty="0" err="1"/>
              <a:t>Surampalem</a:t>
            </a:r>
            <a:r>
              <a:rPr lang="en-IN" dirty="0"/>
              <a:t>, Andhra Pradesh – 533437, India 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sz="1000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66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EB84-E0E0-0013-8E77-D538AC7F0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8B378-9A4D-E470-9F2B-470451C44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677876"/>
            <a:ext cx="6000750" cy="3884724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Result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Conclusions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F79D03B1-F1AC-4899-ADFB-527E0975B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B9190-111A-91EB-2E94-2059ED49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DA462-C1FD-CCA8-05B4-4C55561F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210B-D231-4126-9676-2EEAF3ECB6C6}" type="datetime3">
              <a:rPr lang="en-US" smtClean="0"/>
              <a:t>26 April 2026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FA59DD-D7B6-3464-FF72-7FB576D8DF99}"/>
              </a:ext>
            </a:extLst>
          </p:cNvPr>
          <p:cNvGrpSpPr/>
          <p:nvPr/>
        </p:nvGrpSpPr>
        <p:grpSpPr>
          <a:xfrm>
            <a:off x="3276599" y="199801"/>
            <a:ext cx="6055482" cy="1261107"/>
            <a:chOff x="13004829" y="1407596"/>
            <a:chExt cx="6141489" cy="19093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1464AA6-5F92-EA51-96BD-16B8B56D974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3" name="object 3">
                <a:extLst>
                  <a:ext uri="{FF2B5EF4-FFF2-40B4-BE49-F238E27FC236}">
                    <a16:creationId xmlns:a16="http://schemas.microsoft.com/office/drawing/2014/main" id="{F454BB65-2A62-9FEB-E165-F5647C5AC72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09C1539B-A5B3-EC7E-8306-9BFBD088AA2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40CD98-B0CA-F073-0F20-BAAF700804FE}"/>
                </a:ext>
              </a:extLst>
            </p:cNvPr>
            <p:cNvSpPr/>
            <p:nvPr/>
          </p:nvSpPr>
          <p:spPr>
            <a:xfrm>
              <a:off x="13185154" y="1773658"/>
              <a:ext cx="5635331" cy="8162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2"/>
                </a:spcBef>
                <a:buClr>
                  <a:srgbClr val="000000"/>
                </a:buClr>
                <a:defRPr/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OUT LINE OF THE TALK</a:t>
              </a: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1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E5D-80D7-7E51-544E-45D0C5F0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C3832E2-58BD-3420-3DB8-4D92A72E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95B70-FEA9-4F89-5CD9-3ECB13E5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D2F476-842F-6F48-36FC-0C6D8B2E55D0}"/>
              </a:ext>
            </a:extLst>
          </p:cNvPr>
          <p:cNvGrpSpPr/>
          <p:nvPr/>
        </p:nvGrpSpPr>
        <p:grpSpPr>
          <a:xfrm>
            <a:off x="3276600" y="136524"/>
            <a:ext cx="7385213" cy="1324384"/>
            <a:chOff x="13004829" y="1407596"/>
            <a:chExt cx="749010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75F019-FFE0-2FA4-7C9C-6AD0E352A43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B8A5548-836F-FE91-81C9-614A50D0FEC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509FE48-EB07-7A73-784D-E66E74453F4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5757B-8341-7E10-71A8-9D59EDC76EA2}"/>
                </a:ext>
              </a:extLst>
            </p:cNvPr>
            <p:cNvSpPr/>
            <p:nvPr/>
          </p:nvSpPr>
          <p:spPr>
            <a:xfrm>
              <a:off x="14859604" y="1582621"/>
              <a:ext cx="5635331" cy="10435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INTRODUCTION</a:t>
              </a:r>
            </a:p>
          </p:txBody>
        </p:sp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71D8395-8230-83C3-0DF5-9E6F2F91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44B1-0E60-40F9-BC09-89DCC70110DE}" type="datetime3">
              <a:rPr lang="en-US" smtClean="0"/>
              <a:t>26 April 2026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BCE88-540A-1451-C546-B5DE0E4D67A6}"/>
              </a:ext>
            </a:extLst>
          </p:cNvPr>
          <p:cNvSpPr txBox="1"/>
          <p:nvPr/>
        </p:nvSpPr>
        <p:spPr>
          <a:xfrm>
            <a:off x="1219200" y="1663410"/>
            <a:ext cx="1038684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Digital evidence is important in modern investigations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Chain of custody ensures integrity and authenticity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Traditional systems are centralized and insecure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Need for tamper-proof and transparent solution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89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257F-E4EC-C41A-B4BB-8992140E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0B4A7374-0FEE-DD6B-DC40-E597A2456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5D1E1-B147-B154-A2EC-656E49D5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DFEDAE-66C9-C37B-6322-AE9649E5F712}"/>
              </a:ext>
            </a:extLst>
          </p:cNvPr>
          <p:cNvGrpSpPr/>
          <p:nvPr/>
        </p:nvGrpSpPr>
        <p:grpSpPr>
          <a:xfrm>
            <a:off x="3276600" y="187499"/>
            <a:ext cx="6055482" cy="1273409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6FD5912-DEEB-4E47-EC4F-2B7F55A78AB8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806E7BC-3A7D-DB78-A1C8-67B57A188B5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098D2C2-16F7-180A-7A48-30750390AF34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0B6279B-7CFF-8567-8140-83FB96D5ED6E}"/>
                </a:ext>
              </a:extLst>
            </p:cNvPr>
            <p:cNvSpPr/>
            <p:nvPr/>
          </p:nvSpPr>
          <p:spPr>
            <a:xfrm>
              <a:off x="13255156" y="1529872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LITERATURE REVIEW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AB129-050A-8ECD-4B9B-7B53400B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BA1F-0663-4E98-90C8-98A6BC70EA9D}" type="datetime3">
              <a:rPr lang="en-US" smtClean="0"/>
              <a:t>26 April 2026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58C71-252C-A6CA-1726-5E2735FCCFB1}"/>
              </a:ext>
            </a:extLst>
          </p:cNvPr>
          <p:cNvSpPr txBox="1"/>
          <p:nvPr/>
        </p:nvSpPr>
        <p:spPr>
          <a:xfrm>
            <a:off x="1447800" y="2362200"/>
            <a:ext cx="937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 </a:t>
            </a:r>
            <a:r>
              <a:rPr lang="en-US" altLang="en-US" sz="2400" dirty="0">
                <a:latin typeface="Book Antiqua" panose="02040602050305030304" pitchFamily="18" charset="0"/>
              </a:rPr>
              <a:t>Many blockchain-based models developed (2022–2026)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 Use of Ethereum, Hyperledger, and IoT frameworks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 Smart contracts used for automation and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 Research shows increasing interest in this area </a:t>
            </a:r>
          </a:p>
        </p:txBody>
      </p:sp>
    </p:spTree>
    <p:extLst>
      <p:ext uri="{BB962C8B-B14F-4D97-AF65-F5344CB8AC3E}">
        <p14:creationId xmlns:p14="http://schemas.microsoft.com/office/powerpoint/2010/main" val="386206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FECD-C577-4D62-EA66-1931A8A6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84CEA91D-F035-1915-6126-0D35F6EF8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AC4D-2B50-51BC-1F5C-43FE5FF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7B25DD-27B5-E798-C21F-CFA880C31FC1}"/>
              </a:ext>
            </a:extLst>
          </p:cNvPr>
          <p:cNvGrpSpPr/>
          <p:nvPr/>
        </p:nvGrpSpPr>
        <p:grpSpPr>
          <a:xfrm>
            <a:off x="3276600" y="187499"/>
            <a:ext cx="7080413" cy="1273409"/>
            <a:chOff x="13004829" y="1407596"/>
            <a:chExt cx="718097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663363-FD84-DCF1-34D8-E4D333FE5C2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A424F85-03F8-50CC-86D8-3D5C6254E78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C30E298-DC0D-7EA6-0308-630DA06D5BB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1BCA19-A329-CFAB-D4BD-3928376459B2}"/>
                </a:ext>
              </a:extLst>
            </p:cNvPr>
            <p:cNvSpPr/>
            <p:nvPr/>
          </p:nvSpPr>
          <p:spPr>
            <a:xfrm>
              <a:off x="14550475" y="1578796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METHODOLOGY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6788D-5206-97A5-4B07-E87BD75E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1D953-8FB3-4613-9536-B1084A45000A}" type="datetime3">
              <a:rPr lang="en-US" smtClean="0"/>
              <a:t>26 April 2026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DB8B4-7225-19CA-EC5B-174CC83D3DAA}"/>
              </a:ext>
            </a:extLst>
          </p:cNvPr>
          <p:cNvSpPr txBox="1"/>
          <p:nvPr/>
        </p:nvSpPr>
        <p:spPr>
          <a:xfrm>
            <a:off x="1485900" y="2150745"/>
            <a:ext cx="92202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Review of recent research papers and frameworks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Analysis based on ISO 27037 standards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Comparison of different blockchain models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Focus on security, performance, and legal aspects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54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577E-5AAD-A387-7288-F3EFA53A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B99B3E2-1E2A-D9E3-F0FA-1CBD2B65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9636E-CAD5-0832-8E50-3A4C6FC1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F8DC83-C888-DB3C-F165-39567431CB51}"/>
              </a:ext>
            </a:extLst>
          </p:cNvPr>
          <p:cNvGrpSpPr/>
          <p:nvPr/>
        </p:nvGrpSpPr>
        <p:grpSpPr>
          <a:xfrm>
            <a:off x="3276600" y="136524"/>
            <a:ext cx="6055482" cy="1324384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426176-A9D2-D1BD-180D-BB512503698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487305CF-A2B6-76A4-9B25-4D2788F567D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D72234C-D182-6A07-9706-CAAD80B66AF9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E5AD68-30B6-FDE2-A622-2984C71C1FFD}"/>
                </a:ext>
              </a:extLst>
            </p:cNvPr>
            <p:cNvSpPr/>
            <p:nvPr/>
          </p:nvSpPr>
          <p:spPr>
            <a:xfrm>
              <a:off x="13162790" y="1583399"/>
              <a:ext cx="5635331" cy="850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RESULT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EC784-5349-078E-A034-F6D79CC98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3D9C-0C0F-4D9F-87DB-204D7E3B09D6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36BA3-502E-39CD-F0EB-422EFF7BAF9D}"/>
              </a:ext>
            </a:extLst>
          </p:cNvPr>
          <p:cNvSpPr txBox="1"/>
          <p:nvPr/>
        </p:nvSpPr>
        <p:spPr>
          <a:xfrm>
            <a:off x="1676400" y="2057400"/>
            <a:ext cx="838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Improved transparency and tamper detection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Secure tracking using hashes and timestamps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Off-chain storage improves efficiency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Permissioned blockchain widely used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24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577E-5AAD-A387-7288-F3EFA53A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B99B3E2-1E2A-D9E3-F0FA-1CBD2B65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9636E-CAD5-0832-8E50-3A4C6FC1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F8DC83-C888-DB3C-F165-39567431CB51}"/>
              </a:ext>
            </a:extLst>
          </p:cNvPr>
          <p:cNvGrpSpPr/>
          <p:nvPr/>
        </p:nvGrpSpPr>
        <p:grpSpPr>
          <a:xfrm>
            <a:off x="3276600" y="136524"/>
            <a:ext cx="6055482" cy="1324384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426176-A9D2-D1BD-180D-BB512503698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487305CF-A2B6-76A4-9B25-4D2788F567D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D72234C-D182-6A07-9706-CAAD80B66AF9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E5AD68-30B6-FDE2-A622-2984C71C1FFD}"/>
                </a:ext>
              </a:extLst>
            </p:cNvPr>
            <p:cNvSpPr/>
            <p:nvPr/>
          </p:nvSpPr>
          <p:spPr>
            <a:xfrm>
              <a:off x="13162790" y="1583399"/>
              <a:ext cx="5635331" cy="10435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CONCLUSIONS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EC784-5349-078E-A034-F6D79CC98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3D9C-0C0F-4D9F-87DB-204D7E3B09D6}" type="datetime3">
              <a:rPr lang="en-US" smtClean="0"/>
              <a:t>26 April 2026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912E9F-64E6-71A5-70F6-FE0C92D57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599" y="1624658"/>
            <a:ext cx="9448801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Blockchain ensures secure chain of custody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Provides tamper-proof audit trail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Not a replacement, but supports forensic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Future work needed for standardization and adoption </a:t>
            </a:r>
          </a:p>
        </p:txBody>
      </p:sp>
    </p:spTree>
    <p:extLst>
      <p:ext uri="{BB962C8B-B14F-4D97-AF65-F5344CB8AC3E}">
        <p14:creationId xmlns:p14="http://schemas.microsoft.com/office/powerpoint/2010/main" val="74253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26 April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E48F0-4A0F-4013-8CAA-C0DC10933295}"/>
              </a:ext>
            </a:extLst>
          </p:cNvPr>
          <p:cNvSpPr txBox="1"/>
          <p:nvPr/>
        </p:nvSpPr>
        <p:spPr>
          <a:xfrm>
            <a:off x="1076324" y="1605424"/>
            <a:ext cx="10506076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Challenges &amp; 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Privacy issues with metadata exposure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Scalability and high transaction costs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Governance and trust management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Legal admissibility and court acceptance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Security of external systems (off-chain storage) </a:t>
            </a:r>
          </a:p>
          <a:p>
            <a:pPr algn="ctr">
              <a:spcBef>
                <a:spcPts val="600"/>
              </a:spcBef>
            </a:pPr>
            <a:endParaRPr lang="en-IN" sz="5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87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B82E-ADF6-B241-0EA7-94311C50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1A6A51AF-992C-F1C8-957A-6F8F8CDCB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C7319-E072-9B60-8868-3876BE0B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CAD2ED-0A2B-4311-CC21-7AE48D7B2718}"/>
              </a:ext>
            </a:extLst>
          </p:cNvPr>
          <p:cNvGrpSpPr/>
          <p:nvPr/>
        </p:nvGrpSpPr>
        <p:grpSpPr>
          <a:xfrm>
            <a:off x="3276600" y="345072"/>
            <a:ext cx="6055482" cy="1130031"/>
            <a:chOff x="13004829" y="1407596"/>
            <a:chExt cx="6141489" cy="193798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EE5553-A438-AE53-C9CB-6B1047E0B024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E6D991A6-D0A7-D83F-0B1D-E649C6D4F17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FEFEE09A-0754-6E76-EF81-8A06289D1BAE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7718C1-00AE-912F-1E8E-EB01D2783991}"/>
                </a:ext>
              </a:extLst>
            </p:cNvPr>
            <p:cNvSpPr/>
            <p:nvPr/>
          </p:nvSpPr>
          <p:spPr>
            <a:xfrm>
              <a:off x="13162790" y="1469212"/>
              <a:ext cx="5635331" cy="18763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REFERENCES</a:t>
              </a:r>
            </a:p>
            <a:p>
              <a:pPr algn="ctr">
                <a:lnSpc>
                  <a:spcPct val="150000"/>
                </a:lnSpc>
              </a:pPr>
              <a:endParaRPr lang="en-US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77CBD6B-4F54-3136-B435-9A08842E4DD7}"/>
              </a:ext>
            </a:extLst>
          </p:cNvPr>
          <p:cNvSpPr txBox="1"/>
          <p:nvPr/>
        </p:nvSpPr>
        <p:spPr>
          <a:xfrm>
            <a:off x="6134100" y="5122748"/>
            <a:ext cx="5891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E48F0-4A0F-4013-8CAA-C0DC10933295}"/>
              </a:ext>
            </a:extLst>
          </p:cNvPr>
          <p:cNvSpPr txBox="1"/>
          <p:nvPr/>
        </p:nvSpPr>
        <p:spPr>
          <a:xfrm>
            <a:off x="762000" y="1530473"/>
            <a:ext cx="105156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dirty="0"/>
              <a:t>[</a:t>
            </a:r>
            <a:r>
              <a:rPr lang="en-IN" sz="2000" dirty="0"/>
              <a:t>1] </a:t>
            </a:r>
            <a:r>
              <a:rPr lang="en-IN" sz="2000" dirty="0" err="1"/>
              <a:t>Lavín</a:t>
            </a:r>
            <a:r>
              <a:rPr lang="en-IN" sz="2000" dirty="0"/>
              <a:t> I, Llanos DR, Universidad de Valladolid. An analysis of blockchain solutions for digital Evidence chain of custody [Internet]. Vol. 1, Computer Science. 2021 p.1. Available from: </a:t>
            </a:r>
            <a:r>
              <a:rPr lang="en-IN" sz="2000" dirty="0">
                <a:hlinkClick r:id="rId4"/>
              </a:rPr>
              <a:t>https://uvadoc.uva.es/bitstream/handle/10324/75760/_blockchain_2025_Chain_of_custody_under_iso.pdf </a:t>
            </a:r>
            <a:endParaRPr lang="en-IN" sz="2000" dirty="0"/>
          </a:p>
          <a:p>
            <a:pPr algn="just">
              <a:spcBef>
                <a:spcPts val="600"/>
              </a:spcBef>
            </a:pPr>
            <a:r>
              <a:rPr lang="en-IN" sz="2000" dirty="0"/>
              <a:t>[2] Mathews AS. Blockchain-based Evidence Chain-of-Custody: NIST guidelines [Internet]. </a:t>
            </a:r>
            <a:r>
              <a:rPr lang="en-IN" sz="2000" dirty="0" err="1"/>
              <a:t>Rcademy</a:t>
            </a:r>
            <a:r>
              <a:rPr lang="en-IN" sz="2000" dirty="0"/>
              <a:t>. 2025. Available from: </a:t>
            </a:r>
            <a:r>
              <a:rPr lang="en-IN" sz="2000" dirty="0">
                <a:hlinkClick r:id="rId5"/>
              </a:rPr>
              <a:t>https://rcademy.com/blockchain-based-evidence-chain-of-custody/</a:t>
            </a:r>
            <a:endParaRPr lang="en-IN" sz="2000" dirty="0"/>
          </a:p>
          <a:p>
            <a:pPr algn="just">
              <a:spcBef>
                <a:spcPts val="600"/>
              </a:spcBef>
            </a:pPr>
            <a:r>
              <a:rPr lang="en-IN" sz="2000" dirty="0"/>
              <a:t> [3] </a:t>
            </a:r>
            <a:r>
              <a:rPr lang="en-IN" sz="2000" dirty="0" err="1"/>
              <a:t>Loffi</a:t>
            </a:r>
            <a:r>
              <a:rPr lang="en-IN" sz="2000" dirty="0"/>
              <a:t> L, Camillo GL, De Souza CA, Westphall CM, Westphall CB. Management of the Chain of Custody of Digital Evidence Using Blockchain and Self-Sovereign Identities: A Systematic Literature review. IEEE Access [Internet]. 2025 Jan 1;13:77804–32. Available from: </a:t>
            </a:r>
            <a:r>
              <a:rPr lang="en-IN" sz="2000" dirty="0">
                <a:hlinkClick r:id="rId6"/>
              </a:rPr>
              <a:t>https://doi.org/10.1109/access.2025.3560191</a:t>
            </a:r>
            <a:endParaRPr lang="en-IN" sz="2000" dirty="0"/>
          </a:p>
          <a:p>
            <a:pPr algn="just">
              <a:spcBef>
                <a:spcPts val="600"/>
              </a:spcBef>
            </a:pPr>
            <a:r>
              <a:rPr lang="en-IN" sz="2000" dirty="0"/>
              <a:t> [4] Satapathy S, M N </a:t>
            </a:r>
            <a:r>
              <a:rPr lang="en-IN" sz="2000" dirty="0" err="1"/>
              <a:t>N</a:t>
            </a:r>
            <a:r>
              <a:rPr lang="en-IN" sz="2000" dirty="0"/>
              <a:t>. Blockchain and analysis of digital evidence. International Journal of Research Publication and Reviews [Internet]. 2025 May;6(5). Available from: </a:t>
            </a:r>
            <a:r>
              <a:rPr lang="en-IN" sz="2000" dirty="0">
                <a:hlinkClick r:id="rId7"/>
              </a:rPr>
              <a:t>https://ijrpr.com/uploads/V6ISSUE5/IJRPR45959.pdf</a:t>
            </a:r>
            <a:endParaRPr lang="en-US" sz="2000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endParaRPr lang="en-IN" sz="2400" dirty="0">
              <a:latin typeface="Book Antiqua" panose="0204060205030503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FDA5F2-225A-3B76-2FAB-76C77620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8BBD3-8A15-4A60-98CF-A52752E4FB4E}" type="datetime3">
              <a:rPr lang="en-US" smtClean="0"/>
              <a:t>26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4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866900" y="116634"/>
            <a:ext cx="828675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600" b="1" dirty="0">
              <a:solidFill>
                <a:srgbClr val="0070C0"/>
              </a:solidFill>
              <a:latin typeface="Maiandra GD" pitchFamily="34" charset="0"/>
            </a:endParaRPr>
          </a:p>
        </p:txBody>
      </p:sp>
      <p:sp>
        <p:nvSpPr>
          <p:cNvPr id="2" name="AutoShape 2" descr="Best Thank You Slide For PPT"/>
          <p:cNvSpPr>
            <a:spLocks noChangeAspect="1" noChangeArrowheads="1"/>
          </p:cNvSpPr>
          <p:nvPr/>
        </p:nvSpPr>
        <p:spPr bwMode="auto">
          <a:xfrm>
            <a:off x="1640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152401"/>
            <a:ext cx="1543050" cy="600075"/>
          </a:xfrm>
          <a:prstGeom prst="rect">
            <a:avLst/>
          </a:prstGeom>
          <a:noFill/>
        </p:spPr>
      </p:pic>
      <p:pic>
        <p:nvPicPr>
          <p:cNvPr id="1026" name="Picture 2" descr="Any Questions Ppt PowerPoint Presentation Inspiration Example File Slide01">
            <a:extLst>
              <a:ext uri="{FF2B5EF4-FFF2-40B4-BE49-F238E27FC236}">
                <a16:creationId xmlns:a16="http://schemas.microsoft.com/office/drawing/2014/main" id="{54A7E1B5-9FBD-F6EF-2B7F-E96686881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5" b="18889"/>
          <a:stretch/>
        </p:blipFill>
        <p:spPr bwMode="auto">
          <a:xfrm>
            <a:off x="1295400" y="1049340"/>
            <a:ext cx="9144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DCB6E-61A1-1F64-337E-B0975D69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F715C-3F3A-429B-BE97-2A8FD991BE90}" type="datetime3">
              <a:rPr lang="en-US" smtClean="0"/>
              <a:t>26 April 2026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4965E-1F65-92C3-B565-3D712FC7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1B67-00FB-4D50-A453-CADB0B247171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F552B-10BA-BE7B-117E-96A43B5BFACC}"/>
              </a:ext>
            </a:extLst>
          </p:cNvPr>
          <p:cNvSpPr/>
          <p:nvPr/>
        </p:nvSpPr>
        <p:spPr>
          <a:xfrm>
            <a:off x="2153165" y="3983002"/>
            <a:ext cx="7885669" cy="1207167"/>
          </a:xfrm>
          <a:prstGeom prst="rect">
            <a:avLst/>
          </a:prstGeom>
        </p:spPr>
        <p:txBody>
          <a:bodyPr vert="horz" lIns="36349" tIns="18175" rIns="36349" bIns="18175" rtlCol="0" anchor="ctr">
            <a:normAutofit/>
          </a:bodyPr>
          <a:lstStyle/>
          <a:p>
            <a:pPr algn="ctr" defTabSz="369303">
              <a:spcBef>
                <a:spcPct val="0"/>
              </a:spcBef>
              <a:spcAft>
                <a:spcPts val="238"/>
              </a:spcAft>
            </a:pPr>
            <a:r>
              <a:rPr lang="en-US" sz="3772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latin typeface="Berlin Sans FB" panose="020E0602020502020306" pitchFamily="34" charset="0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Picture 6" descr="Kulanz kann dauerhaft zur Zahlung verpflichten » AGENTIN">
            <a:extLst>
              <a:ext uri="{FF2B5EF4-FFF2-40B4-BE49-F238E27FC236}">
                <a16:creationId xmlns:a16="http://schemas.microsoft.com/office/drawing/2014/main" id="{D23E92D6-7793-9B44-7E8D-93F0BBC216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78"/>
          <a:stretch/>
        </p:blipFill>
        <p:spPr bwMode="auto">
          <a:xfrm>
            <a:off x="3794489" y="1667831"/>
            <a:ext cx="4603021" cy="23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41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546</Words>
  <Application>Microsoft Office PowerPoint</Application>
  <PresentationFormat>Widescreen</PresentationFormat>
  <Paragraphs>84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Syed Mansur Hussain</cp:lastModifiedBy>
  <cp:revision>17</cp:revision>
  <dcterms:created xsi:type="dcterms:W3CDTF">2006-08-16T00:00:00Z</dcterms:created>
  <dcterms:modified xsi:type="dcterms:W3CDTF">2026-04-26T07:55:07Z</dcterms:modified>
</cp:coreProperties>
</file>